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9"/>
  </p:notesMasterIdLst>
  <p:handoutMasterIdLst>
    <p:handoutMasterId r:id="rId20"/>
  </p:handoutMasterIdLst>
  <p:sldIdLst>
    <p:sldId id="2561" r:id="rId5"/>
    <p:sldId id="2562" r:id="rId6"/>
    <p:sldId id="2563" r:id="rId7"/>
    <p:sldId id="2564" r:id="rId8"/>
    <p:sldId id="2574" r:id="rId9"/>
    <p:sldId id="2575" r:id="rId10"/>
    <p:sldId id="2565" r:id="rId11"/>
    <p:sldId id="2568" r:id="rId12"/>
    <p:sldId id="2576" r:id="rId13"/>
    <p:sldId id="2577" r:id="rId14"/>
    <p:sldId id="2570" r:id="rId15"/>
    <p:sldId id="2578" r:id="rId16"/>
    <p:sldId id="2579" r:id="rId17"/>
    <p:sldId id="25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ice Variety Analysis" id="{9B7EF88B-8F38-490A-BC17-473439848769}">
          <p14:sldIdLst>
            <p14:sldId id="2561"/>
          </p14:sldIdLst>
        </p14:section>
        <p14:section name="Introduction and Project Overview" id="{C72B7C94-C558-42B6-9F38-C8CF7B0F0132}">
          <p14:sldIdLst>
            <p14:sldId id="2562"/>
            <p14:sldId id="2563"/>
          </p14:sldIdLst>
        </p14:section>
        <p14:section name="Dataset Details" id="{26BE3D6C-9083-43A4-A32A-0572A7E80E82}">
          <p14:sldIdLst>
            <p14:sldId id="2564"/>
            <p14:sldId id="2574"/>
            <p14:sldId id="2575"/>
            <p14:sldId id="2565"/>
          </p14:sldIdLst>
        </p14:section>
        <p14:section name="Workflow" id="{7AFFDA8C-8104-4B5B-8CAE-568894F07C68}">
          <p14:sldIdLst>
            <p14:sldId id="2568"/>
            <p14:sldId id="2576"/>
            <p14:sldId id="2577"/>
          </p14:sldIdLst>
        </p14:section>
        <p14:section name="Results and Analysis" id="{A9E8DBE8-7D9A-42DA-B482-48D82BAE7CE5}">
          <p14:sldIdLst>
            <p14:sldId id="2570"/>
            <p14:sldId id="2578"/>
            <p14:sldId id="2579"/>
          </p14:sldIdLst>
        </p14:section>
        <p14:section name="Conclusion and Future Scope" id="{011C1656-F1CB-4921-9E01-1EFA645E8A37}">
          <p14:sldIdLst>
            <p14:sldId id="257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294C42-B655-CBCC-98C4-162045B529D6}" v="107" dt="2025-12-17T05:34:03.202"/>
    <p1510:client id="{16D8B80C-93F5-9473-E25C-E9EFF201C8AB}" v="169" dt="2025-12-16T21:12:58.731"/>
    <p1510:client id="{2389829B-1F56-4A3F-B75E-36217864A983}" v="333" dt="2025-12-17T05:26:25.241"/>
    <p1510:client id="{2898DFEB-C00D-0512-75A3-AB406520C6D7}" v="2" dt="2025-12-16T15:13:29.180"/>
    <p1510:client id="{36BBEB67-AA4D-6664-07BE-1F640BAE0737}" v="158" dt="2025-12-16T21:53:01.968"/>
    <p1510:client id="{47A3B686-FCAF-6C45-1E31-7CCEDCD917FC}" v="1" dt="2025-12-17T05:05:39.508"/>
    <p1510:client id="{74CFB028-2FC0-CB38-7DD2-06F50CF7DD53}" v="74" dt="2025-12-16T19:58:32.688"/>
    <p1510:client id="{7B116213-67F8-409D-0377-06F9D86ED1AC}" v="232" dt="2025-12-16T21:40:49.486"/>
    <p1510:client id="{8B0D8143-ACFF-394B-A865-7F5944886DD8}" v="2" dt="2025-12-17T05:30:53.744"/>
    <p1510:client id="{A3259043-F5D6-96B4-1150-2C2518826621}" v="26" dt="2025-12-16T17:10:20.401"/>
    <p1510:client id="{C80116D7-5A8B-983E-58DB-C15389EB0191}" v="10" dt="2025-12-17T05:32:55.685"/>
    <p1510:client id="{CCC8FB93-76D9-CAD2-0C58-20A35CF432CD}" v="55" dt="2025-12-16T15:28:46.729"/>
    <p1510:client id="{CD08B178-A45D-1123-DF09-F96163CBD5A8}" v="7" dt="2025-12-17T06:22:11.968"/>
    <p1510:client id="{F2ABD500-439C-523D-08FE-65E9C571D9EE}" v="4" dt="2025-12-16T15:29:07.669"/>
    <p1510:client id="{FCB4A2B8-3E36-4E7A-8316-D64D08FD91FC}" v="16" dt="2025-12-16T15:06:56.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12/16/2025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35097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Overview</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924754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Rice is one of the most important staple foods globally, and understanding its varieties is crucial for agriculture, trade, and food security. This project focuses on classifying processed rice varieties using machine learning techniques. The primary objective is to develop a model that can accurately identify different rice types based on microscopic images and RGB histogram features. By leveraging image processing and supervised learning, the system aims to automate classification tasks that traditionally require expert knowledge. This approach not only saves time but also ensures consistency in quality control. The project involves collecting a dataset of rice grains, preprocessing images, extracting relevant features, and training a machine learning model to predict the variety. The ultimate goal is to demonstrate how AI can assist in agricultural research and industrial applications, improving efficiency and reducing human error.</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719549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Rice Varieties and Image Characteristics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999790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dataset consists of microscopic images of 10 distinct rice varieties: Aush, BR-28, BR-29, Beroi, Chinigura, Ghee Bhog, Katari Najir, Katari Siddho, Miniket, and Swarna. Each image captures the unique physical characteristics of the grains, such as shape, size, and surface texture. These images are processed to extract RGB histograms, which serve as the primary features for classification. RGB histograms provide a quantitative representation of color distribution, which is essential because different rice varieties exhibit subtle color variations under microscopic observation. The dataset is carefully curated to ensure balanced representation of all classes, enabling the model to learn distinguishing features effectively. This diversity in the dataset is critical for building a robust classifier that can generalize well to unseen samples.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967131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Process Flow Diagram</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48468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Performance Metrics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517076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Findings and Next Steps</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826386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18.jpe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CBB1-091F-0BD5-EF58-5B7CBA6244FB}"/>
              </a:ext>
            </a:extLst>
          </p:cNvPr>
          <p:cNvSpPr>
            <a:spLocks noGrp="1"/>
          </p:cNvSpPr>
          <p:nvPr>
            <p:ph type="ctrTitle"/>
          </p:nvPr>
        </p:nvSpPr>
        <p:spPr>
          <a:xfrm>
            <a:off x="609600" y="1381830"/>
            <a:ext cx="5534841" cy="2045082"/>
          </a:xfrm>
        </p:spPr>
        <p:txBody>
          <a:bodyPr anchor="b">
            <a:normAutofit/>
          </a:bodyPr>
          <a:lstStyle/>
          <a:p>
            <a:r>
              <a:rPr lang="en-US" sz="4800">
                <a:latin typeface="Franklin Gothic Book"/>
                <a:ea typeface="Batang"/>
              </a:rPr>
              <a:t>RICE VARITY IN BD Analysis</a:t>
            </a:r>
          </a:p>
        </p:txBody>
      </p:sp>
      <p:sp>
        <p:nvSpPr>
          <p:cNvPr id="3" name="Subtitle 2">
            <a:extLst>
              <a:ext uri="{FF2B5EF4-FFF2-40B4-BE49-F238E27FC236}">
                <a16:creationId xmlns:a16="http://schemas.microsoft.com/office/drawing/2014/main" id="{695A9FBA-25B3-DBDB-B8F0-6B4D13C30376}"/>
              </a:ext>
            </a:extLst>
          </p:cNvPr>
          <p:cNvSpPr>
            <a:spLocks noGrp="1"/>
          </p:cNvSpPr>
          <p:nvPr>
            <p:ph type="subTitle" idx="1"/>
          </p:nvPr>
        </p:nvSpPr>
        <p:spPr>
          <a:xfrm>
            <a:off x="609600" y="4142852"/>
            <a:ext cx="4856348" cy="2029344"/>
          </a:xfrm>
        </p:spPr>
        <p:txBody>
          <a:bodyPr vert="horz" lIns="91440" tIns="45720" rIns="91440" bIns="45720" rtlCol="0" anchor="t">
            <a:normAutofit/>
          </a:bodyPr>
          <a:lstStyle/>
          <a:p>
            <a:pPr algn="l"/>
            <a:r>
              <a:rPr lang="en-US" sz="3600" b="1">
                <a:solidFill>
                  <a:srgbClr val="000000"/>
                </a:solidFill>
                <a:latin typeface="Franklin Gothic Book"/>
              </a:rPr>
              <a:t>Machine Learning</a:t>
            </a:r>
            <a:endParaRPr lang="en-US"/>
          </a:p>
          <a:p>
            <a:r>
              <a:rPr lang="en-US" b="1">
                <a:latin typeface="Algerian"/>
              </a:rPr>
              <a:t>Semester: FALL 2025</a:t>
            </a:r>
          </a:p>
          <a:p>
            <a:r>
              <a:rPr lang="en-US" b="1">
                <a:latin typeface="Algerian"/>
              </a:rPr>
              <a:t>CSE475  Section:2</a:t>
            </a:r>
          </a:p>
          <a:p>
            <a:endParaRPr lang="en-US"/>
          </a:p>
        </p:txBody>
      </p:sp>
      <p:pic>
        <p:nvPicPr>
          <p:cNvPr id="4" name="Picture 3" descr="Ear of rice in the field.">
            <a:extLst>
              <a:ext uri="{FF2B5EF4-FFF2-40B4-BE49-F238E27FC236}">
                <a16:creationId xmlns:a16="http://schemas.microsoft.com/office/drawing/2014/main" id="{152B320D-AA01-46E5-8FC6-CE4050031465}"/>
              </a:ext>
            </a:extLst>
          </p:cNvPr>
          <p:cNvPicPr>
            <a:picLocks noChangeAspect="1"/>
          </p:cNvPicPr>
          <p:nvPr/>
        </p:nvPicPr>
        <p:blipFill>
          <a:blip r:embed="rId3"/>
          <a:srcRect l="42035" r="1" b="1"/>
          <a:stretch>
            <a:fillRect/>
          </a:stretch>
        </p:blipFill>
        <p:spPr>
          <a:xfrm>
            <a:off x="6366168" y="233172"/>
            <a:ext cx="5550408" cy="6391656"/>
          </a:xfrm>
          <a:prstGeom prst="rect">
            <a:avLst/>
          </a:prstGeom>
          <a:noFill/>
        </p:spPr>
      </p:pic>
    </p:spTree>
    <p:extLst>
      <p:ext uri="{BB962C8B-B14F-4D97-AF65-F5344CB8AC3E}">
        <p14:creationId xmlns:p14="http://schemas.microsoft.com/office/powerpoint/2010/main" val="297583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unched Tape 6">
            <a:extLst>
              <a:ext uri="{FF2B5EF4-FFF2-40B4-BE49-F238E27FC236}">
                <a16:creationId xmlns:a16="http://schemas.microsoft.com/office/drawing/2014/main" id="{4D60EC34-9298-BE6E-7358-75AFF1B5C05D}"/>
              </a:ext>
            </a:extLst>
          </p:cNvPr>
          <p:cNvSpPr/>
          <p:nvPr/>
        </p:nvSpPr>
        <p:spPr>
          <a:xfrm>
            <a:off x="6814637" y="2727507"/>
            <a:ext cx="5049641" cy="2830475"/>
          </a:xfrm>
          <a:prstGeom prst="flowChartPunchedTape">
            <a:avLst/>
          </a:prstGeom>
          <a:no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lnSpc>
                <a:spcPts val="2700"/>
              </a:lnSpc>
            </a:pPr>
            <a:r>
              <a:rPr lang="en-US" sz="2000" b="1">
                <a:solidFill>
                  <a:schemeClr val="bg1"/>
                </a:solidFill>
                <a:latin typeface="Lobster"/>
              </a:rPr>
              <a:t>Submitted To</a:t>
            </a:r>
            <a:r>
              <a:rPr lang="en-US" sz="2000">
                <a:solidFill>
                  <a:schemeClr val="bg1"/>
                </a:solidFill>
                <a:latin typeface="Lobster"/>
              </a:rPr>
              <a:t> </a:t>
            </a:r>
            <a:endParaRPr lang="en-US">
              <a:solidFill>
                <a:schemeClr val="bg1"/>
              </a:solidFill>
            </a:endParaRPr>
          </a:p>
          <a:p>
            <a:pPr algn="ctr">
              <a:lnSpc>
                <a:spcPts val="2700"/>
              </a:lnSpc>
            </a:pPr>
            <a:r>
              <a:rPr lang="en-US" sz="2000" b="1">
                <a:solidFill>
                  <a:schemeClr val="bg1"/>
                </a:solidFill>
                <a:latin typeface="Lobster"/>
              </a:rPr>
              <a:t>Dr. Raihan Ul Islam,</a:t>
            </a:r>
            <a:r>
              <a:rPr lang="en-US" sz="2000">
                <a:solidFill>
                  <a:schemeClr val="bg1"/>
                </a:solidFill>
                <a:latin typeface="Lobster"/>
              </a:rPr>
              <a:t> </a:t>
            </a:r>
          </a:p>
          <a:p>
            <a:pPr algn="ctr">
              <a:lnSpc>
                <a:spcPts val="2700"/>
              </a:lnSpc>
            </a:pPr>
            <a:r>
              <a:rPr lang="en-US" sz="2000">
                <a:solidFill>
                  <a:schemeClr val="bg1"/>
                </a:solidFill>
                <a:latin typeface="Lobster"/>
              </a:rPr>
              <a:t>Associate Professor </a:t>
            </a:r>
          </a:p>
          <a:p>
            <a:pPr algn="ctr">
              <a:lnSpc>
                <a:spcPts val="2700"/>
              </a:lnSpc>
            </a:pPr>
            <a:r>
              <a:rPr lang="en-US" sz="2000">
                <a:solidFill>
                  <a:schemeClr val="bg1"/>
                </a:solidFill>
                <a:latin typeface="Lobster"/>
              </a:rPr>
              <a:t>Department of </a:t>
            </a:r>
            <a:r>
              <a:rPr lang="en-US" sz="2000" err="1">
                <a:solidFill>
                  <a:schemeClr val="bg1"/>
                </a:solidFill>
                <a:latin typeface="Lobster"/>
              </a:rPr>
              <a:t>ComputerScience</a:t>
            </a:r>
            <a:r>
              <a:rPr lang="en-US" sz="2000">
                <a:solidFill>
                  <a:schemeClr val="bg1"/>
                </a:solidFill>
                <a:latin typeface="Lobster"/>
              </a:rPr>
              <a:t> and Engineering</a:t>
            </a:r>
            <a:endParaRPr lang="en-GB">
              <a:solidFill>
                <a:schemeClr val="bg1"/>
              </a:solidFill>
            </a:endParaRPr>
          </a:p>
        </p:txBody>
      </p:sp>
      <p:sp>
        <p:nvSpPr>
          <p:cNvPr id="11" name="Rectangle 10">
            <a:extLst>
              <a:ext uri="{FF2B5EF4-FFF2-40B4-BE49-F238E27FC236}">
                <a16:creationId xmlns:a16="http://schemas.microsoft.com/office/drawing/2014/main" id="{E91EBFEB-DA20-7B8F-E003-EBB1BF95CFE3}"/>
              </a:ext>
            </a:extLst>
          </p:cNvPr>
          <p:cNvSpPr/>
          <p:nvPr/>
        </p:nvSpPr>
        <p:spPr>
          <a:xfrm>
            <a:off x="596053" y="1278466"/>
            <a:ext cx="5151120" cy="42875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80000"/>
              </a:lnSpc>
              <a:spcBef>
                <a:spcPct val="0"/>
              </a:spcBef>
            </a:pPr>
            <a:r>
              <a:rPr lang="en-US" sz="2000" b="1" cap="all">
                <a:solidFill>
                  <a:srgbClr val="000000"/>
                </a:solidFill>
                <a:latin typeface="Lobster"/>
              </a:rPr>
              <a:t>Submitted By</a:t>
            </a:r>
            <a:br>
              <a:rPr lang="en-US" sz="2000" cap="all">
                <a:latin typeface="Lobster"/>
              </a:rPr>
            </a:br>
            <a:endParaRPr lang="en-US" sz="2000">
              <a:latin typeface="Batang"/>
              <a:ea typeface="Batang"/>
            </a:endParaRPr>
          </a:p>
          <a:p>
            <a:pPr algn="ctr">
              <a:lnSpc>
                <a:spcPct val="80000"/>
              </a:lnSpc>
              <a:spcBef>
                <a:spcPct val="0"/>
              </a:spcBef>
            </a:pPr>
            <a:r>
              <a:rPr lang="en-US" sz="2000" i="1" cap="all">
                <a:solidFill>
                  <a:srgbClr val="000000"/>
                </a:solidFill>
                <a:latin typeface="Lobster"/>
              </a:rPr>
              <a:t>Name: </a:t>
            </a:r>
            <a:r>
              <a:rPr lang="en-US" sz="2000" i="1" cap="all" err="1">
                <a:solidFill>
                  <a:srgbClr val="000000"/>
                </a:solidFill>
                <a:latin typeface="Lobster"/>
              </a:rPr>
              <a:t>Farhatun</a:t>
            </a:r>
            <a:r>
              <a:rPr lang="en-US" sz="2000" i="1" cap="all">
                <a:solidFill>
                  <a:srgbClr val="000000"/>
                </a:solidFill>
                <a:latin typeface="Lobster"/>
              </a:rPr>
              <a:t> Nahar Priya</a:t>
            </a:r>
            <a:endParaRPr lang="en-US" sz="2000">
              <a:latin typeface="Lobster"/>
            </a:endParaRPr>
          </a:p>
          <a:p>
            <a:pPr algn="ctr">
              <a:lnSpc>
                <a:spcPct val="80000"/>
              </a:lnSpc>
              <a:spcBef>
                <a:spcPct val="0"/>
              </a:spcBef>
            </a:pPr>
            <a:r>
              <a:rPr lang="en-US" sz="2000" i="1" cap="all">
                <a:solidFill>
                  <a:srgbClr val="000000"/>
                </a:solidFill>
                <a:latin typeface="Lobster"/>
              </a:rPr>
              <a:t>ID-2023-1-60-202</a:t>
            </a:r>
            <a:br>
              <a:rPr lang="en-US" sz="2000" i="1" cap="all">
                <a:solidFill>
                  <a:srgbClr val="000000"/>
                </a:solidFill>
                <a:latin typeface="Lobster"/>
              </a:rPr>
            </a:br>
            <a:endParaRPr lang="en-US" sz="2000">
              <a:latin typeface="Batang"/>
              <a:ea typeface="Batang"/>
            </a:endParaRPr>
          </a:p>
          <a:p>
            <a:pPr algn="ctr">
              <a:lnSpc>
                <a:spcPct val="80000"/>
              </a:lnSpc>
              <a:spcBef>
                <a:spcPct val="0"/>
              </a:spcBef>
            </a:pPr>
            <a:r>
              <a:rPr lang="en-US" sz="2000" i="1" cap="all">
                <a:solidFill>
                  <a:srgbClr val="000000"/>
                </a:solidFill>
                <a:latin typeface="Lobster"/>
              </a:rPr>
              <a:t>Name: Nuran Farhana </a:t>
            </a:r>
            <a:r>
              <a:rPr lang="en-US" sz="2000" i="1" cap="all" err="1">
                <a:solidFill>
                  <a:srgbClr val="000000"/>
                </a:solidFill>
                <a:latin typeface="Lobster"/>
              </a:rPr>
              <a:t>Prova</a:t>
            </a:r>
            <a:endParaRPr lang="en-US" sz="2000" err="1">
              <a:latin typeface="Lobster"/>
            </a:endParaRPr>
          </a:p>
          <a:p>
            <a:pPr algn="ctr">
              <a:lnSpc>
                <a:spcPct val="80000"/>
              </a:lnSpc>
              <a:spcBef>
                <a:spcPct val="0"/>
              </a:spcBef>
            </a:pPr>
            <a:r>
              <a:rPr lang="en-US" sz="2000" i="1" cap="all">
                <a:solidFill>
                  <a:srgbClr val="000000"/>
                </a:solidFill>
                <a:latin typeface="Lobster"/>
              </a:rPr>
              <a:t>ID-2023-1-60-075</a:t>
            </a:r>
            <a:br>
              <a:rPr lang="en-US" sz="2000" i="1" cap="all">
                <a:solidFill>
                  <a:srgbClr val="000000"/>
                </a:solidFill>
                <a:latin typeface="Lobster"/>
              </a:rPr>
            </a:br>
            <a:endParaRPr lang="en-US" sz="2000">
              <a:latin typeface="Batang"/>
              <a:ea typeface="Batang"/>
            </a:endParaRPr>
          </a:p>
          <a:p>
            <a:pPr algn="ctr">
              <a:lnSpc>
                <a:spcPct val="80000"/>
              </a:lnSpc>
              <a:spcBef>
                <a:spcPct val="0"/>
              </a:spcBef>
            </a:pPr>
            <a:r>
              <a:rPr lang="en-US" sz="2000" i="1" cap="all">
                <a:solidFill>
                  <a:srgbClr val="000000"/>
                </a:solidFill>
                <a:latin typeface="Lobster"/>
              </a:rPr>
              <a:t>Name: Afsana Akter Mim</a:t>
            </a:r>
            <a:endParaRPr lang="en-US" sz="2000">
              <a:latin typeface="Lobster"/>
            </a:endParaRPr>
          </a:p>
          <a:p>
            <a:pPr algn="ctr">
              <a:lnSpc>
                <a:spcPct val="80000"/>
              </a:lnSpc>
              <a:spcBef>
                <a:spcPct val="0"/>
              </a:spcBef>
            </a:pPr>
            <a:r>
              <a:rPr lang="en-US" sz="2000" i="1" cap="all">
                <a:solidFill>
                  <a:srgbClr val="000000"/>
                </a:solidFill>
                <a:latin typeface="Lobster"/>
              </a:rPr>
              <a:t>ID-2023-1-60-073</a:t>
            </a:r>
            <a:endParaRPr lang="en-GB"/>
          </a:p>
        </p:txBody>
      </p:sp>
    </p:spTree>
    <p:extLst>
      <p:ext uri="{BB962C8B-B14F-4D97-AF65-F5344CB8AC3E}">
        <p14:creationId xmlns:p14="http://schemas.microsoft.com/office/powerpoint/2010/main" val="82803920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A6A8-DE91-82AE-AF9B-2C6BA94ECCBD}"/>
              </a:ext>
            </a:extLst>
          </p:cNvPr>
          <p:cNvSpPr>
            <a:spLocks noGrp="1"/>
          </p:cNvSpPr>
          <p:nvPr>
            <p:ph type="title"/>
          </p:nvPr>
        </p:nvSpPr>
        <p:spPr>
          <a:xfrm>
            <a:off x="609600" y="709099"/>
            <a:ext cx="8019289" cy="891101"/>
          </a:xfrm>
        </p:spPr>
        <p:txBody>
          <a:bodyPr anchor="b">
            <a:normAutofit/>
          </a:bodyPr>
          <a:lstStyle/>
          <a:p>
            <a:pPr algn="ctr"/>
            <a:r>
              <a:rPr lang="en-US" sz="3600">
                <a:latin typeface="Bell MT"/>
                <a:ea typeface="Batang"/>
              </a:rPr>
              <a:t>Project Overview</a:t>
            </a:r>
            <a:endParaRPr lang="en-US" sz="3600"/>
          </a:p>
        </p:txBody>
      </p:sp>
      <p:pic>
        <p:nvPicPr>
          <p:cNvPr id="5" name="Content Placeholder 4" descr="Rice research, plant disease investigation, Science of plant research, Chromosome DNA and genetic, Scientist researching.">
            <a:extLst>
              <a:ext uri="{FF2B5EF4-FFF2-40B4-BE49-F238E27FC236}">
                <a16:creationId xmlns:a16="http://schemas.microsoft.com/office/drawing/2014/main" id="{7A34428C-5FDA-4FB6-A8C3-2AA8EB1E2CF6}"/>
              </a:ext>
            </a:extLst>
          </p:cNvPr>
          <p:cNvPicPr>
            <a:picLocks noGrp="1" noChangeAspect="1"/>
          </p:cNvPicPr>
          <p:nvPr>
            <p:ph type="pic" sz="quarter" idx="18"/>
          </p:nvPr>
        </p:nvPicPr>
        <p:blipFill>
          <a:blip r:embed="rId3"/>
          <a:srcRect l="35613" r="39042" b="2"/>
          <a:stretch>
            <a:fillRect/>
          </a:stretch>
        </p:blipFill>
        <p:spPr>
          <a:xfrm>
            <a:off x="9115461" y="-4698"/>
            <a:ext cx="3076448" cy="6583680"/>
          </a:xfrm>
          <a:prstGeom prst="rect">
            <a:avLst/>
          </a:prstGeom>
          <a:noFill/>
        </p:spPr>
      </p:pic>
      <p:sp>
        <p:nvSpPr>
          <p:cNvPr id="7" name="Content Placeholder 6">
            <a:extLst>
              <a:ext uri="{FF2B5EF4-FFF2-40B4-BE49-F238E27FC236}">
                <a16:creationId xmlns:a16="http://schemas.microsoft.com/office/drawing/2014/main" id="{2CF3C636-63D7-4C9C-B0EC-5D538CDBF268}"/>
              </a:ext>
            </a:extLst>
          </p:cNvPr>
          <p:cNvSpPr>
            <a:spLocks noGrp="1"/>
          </p:cNvSpPr>
          <p:nvPr>
            <p:ph sz="quarter" idx="14"/>
          </p:nvPr>
        </p:nvSpPr>
        <p:spPr/>
        <p:txBody>
          <a:bodyPr vert="horz" lIns="91440" tIns="45720" rIns="91440" bIns="45720" rtlCol="0" anchor="t">
            <a:noAutofit/>
          </a:bodyPr>
          <a:lstStyle/>
          <a:p>
            <a:pPr algn="just"/>
            <a:r>
              <a:rPr lang="en-GB" sz="1800" dirty="0">
                <a:latin typeface="Franklin Gothic Book"/>
                <a:cs typeface="Times New Roman"/>
              </a:rPr>
              <a:t>Evaluate and compare the performance of self-supervised learning frameworks(</a:t>
            </a:r>
            <a:r>
              <a:rPr lang="en-GB" sz="1800" dirty="0" err="1">
                <a:latin typeface="Franklin Gothic Book"/>
                <a:cs typeface="Times New Roman"/>
              </a:rPr>
              <a:t>SimCLR</a:t>
            </a:r>
            <a:r>
              <a:rPr lang="en-GB" sz="1800" dirty="0">
                <a:latin typeface="Franklin Gothic Book"/>
                <a:cs typeface="Times New Roman"/>
              </a:rPr>
              <a:t>, BYOL, and MAE )on the PRDB dataset using backbone architectures DenseNet-121 and </a:t>
            </a:r>
            <a:r>
              <a:rPr lang="en-GB" sz="1800" dirty="0" err="1">
                <a:latin typeface="Franklin Gothic Book"/>
                <a:cs typeface="Times New Roman"/>
              </a:rPr>
              <a:t>ViT</a:t>
            </a:r>
            <a:r>
              <a:rPr lang="en-GB" sz="1800" dirty="0">
                <a:latin typeface="Franklin Gothic Book"/>
                <a:cs typeface="Times New Roman"/>
              </a:rPr>
              <a:t>.</a:t>
            </a:r>
            <a:endParaRPr lang="en-US" sz="1800" dirty="0">
              <a:latin typeface="Franklin Gothic Book"/>
            </a:endParaRPr>
          </a:p>
          <a:p>
            <a:pPr algn="just"/>
            <a:br>
              <a:rPr lang="en-US" sz="1800" dirty="0">
                <a:latin typeface="Franklin Gothic Book"/>
              </a:rPr>
            </a:br>
            <a:r>
              <a:rPr lang="en-US" sz="1800" dirty="0">
                <a:latin typeface="Franklin Gothic Book"/>
                <a:cs typeface="Times New Roman"/>
              </a:rPr>
              <a:t>Evaluate supervised pretraining performance on the PRDB dataset with </a:t>
            </a:r>
            <a:r>
              <a:rPr lang="en-US" sz="1800" dirty="0" err="1">
                <a:latin typeface="Franklin Gothic Book"/>
                <a:cs typeface="Times New Roman"/>
              </a:rPr>
              <a:t>NASNetMobile</a:t>
            </a:r>
            <a:r>
              <a:rPr lang="en-US" sz="1800" dirty="0">
                <a:latin typeface="Franklin Gothic Book"/>
                <a:cs typeface="Times New Roman"/>
              </a:rPr>
              <a:t>, </a:t>
            </a:r>
            <a:r>
              <a:rPr lang="en-US" sz="1800" dirty="0" err="1">
                <a:latin typeface="Franklin Gothic Book"/>
                <a:cs typeface="Times New Roman"/>
              </a:rPr>
              <a:t>ConvNeXt</a:t>
            </a:r>
            <a:r>
              <a:rPr lang="en-US" sz="1800" dirty="0">
                <a:latin typeface="Franklin Gothic Book"/>
                <a:cs typeface="Times New Roman"/>
              </a:rPr>
              <a:t>-Tiny, InceptionV3, ResNet-50, and DenseNet-121 models.</a:t>
            </a:r>
            <a:endParaRPr lang="en-US" sz="1800" dirty="0">
              <a:latin typeface="Franklin Gothic Book"/>
            </a:endParaRPr>
          </a:p>
        </p:txBody>
      </p:sp>
    </p:spTree>
    <p:extLst>
      <p:ext uri="{BB962C8B-B14F-4D97-AF65-F5344CB8AC3E}">
        <p14:creationId xmlns:p14="http://schemas.microsoft.com/office/powerpoint/2010/main" val="22928573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57961-826B-B92B-4E7F-D59C37C71501}"/>
              </a:ext>
            </a:extLst>
          </p:cNvPr>
          <p:cNvSpPr>
            <a:spLocks noGrp="1"/>
          </p:cNvSpPr>
          <p:nvPr>
            <p:ph type="title"/>
          </p:nvPr>
        </p:nvSpPr>
        <p:spPr>
          <a:xfrm>
            <a:off x="612648" y="1370579"/>
            <a:ext cx="3651432" cy="5262666"/>
          </a:xfrm>
        </p:spPr>
        <p:txBody>
          <a:bodyPr anchor="ctr">
            <a:normAutofit fontScale="90000"/>
          </a:bodyPr>
          <a:lstStyle/>
          <a:p>
            <a:r>
              <a:rPr lang="en-US" sz="1400" b="1">
                <a:solidFill>
                  <a:srgbClr val="FF0000"/>
                </a:solidFill>
                <a:latin typeface="Abadi"/>
                <a:ea typeface="Calibri"/>
                <a:cs typeface="Calibri"/>
              </a:rPr>
              <a:t>PRBD Dataset:</a:t>
            </a:r>
            <a:r>
              <a:rPr lang="en-US" sz="1400">
                <a:latin typeface="Abadi"/>
                <a:ea typeface="Calibri"/>
                <a:cs typeface="Calibri"/>
              </a:rPr>
              <a:t> </a:t>
            </a:r>
            <a:r>
              <a:rPr lang="en-US" sz="1400">
                <a:latin typeface="Franklin Gothic Book"/>
                <a:ea typeface="Calibri"/>
                <a:cs typeface="Calibri"/>
              </a:rPr>
              <a:t>contains</a:t>
            </a:r>
            <a:r>
              <a:rPr lang="en-US" sz="1400">
                <a:solidFill>
                  <a:srgbClr val="FF0000"/>
                </a:solidFill>
                <a:latin typeface="Abadi"/>
                <a:ea typeface="Calibri"/>
                <a:cs typeface="Calibri"/>
              </a:rPr>
              <a:t> </a:t>
            </a:r>
            <a:r>
              <a:rPr lang="en-US" sz="1400" b="1">
                <a:solidFill>
                  <a:srgbClr val="FF0000"/>
                </a:solidFill>
                <a:latin typeface="Abadi"/>
                <a:ea typeface="Calibri"/>
                <a:cs typeface="Calibri"/>
              </a:rPr>
              <a:t>10</a:t>
            </a:r>
            <a:r>
              <a:rPr lang="en-US" sz="1400">
                <a:latin typeface="Franklin Gothic Book"/>
                <a:ea typeface="Calibri"/>
                <a:cs typeface="Calibri"/>
              </a:rPr>
              <a:t> processed rice varieties of Bangladesh Diverse Rice Varieties</a:t>
            </a:r>
            <a:br>
              <a:rPr lang="en-US" sz="1400">
                <a:latin typeface="Franklin Gothic Book"/>
                <a:ea typeface="Calibri"/>
                <a:cs typeface="Calibri"/>
              </a:rPr>
            </a:br>
            <a:br>
              <a:rPr lang="en-US" sz="1400">
                <a:latin typeface="Franklin Gothic Book"/>
                <a:ea typeface="Calibri"/>
                <a:cs typeface="Calibri"/>
              </a:rPr>
            </a:br>
            <a:r>
              <a:rPr lang="en-US" sz="1400" b="1">
                <a:latin typeface="Franklin Gothic Book"/>
                <a:ea typeface="+mj-lt"/>
                <a:cs typeface="+mj-lt"/>
              </a:rPr>
              <a:t>Dataset Size: </a:t>
            </a:r>
            <a:r>
              <a:rPr lang="en-US" sz="1400">
                <a:latin typeface="Franklin Gothic Book"/>
                <a:ea typeface="+mj-lt"/>
                <a:cs typeface="+mj-lt"/>
              </a:rPr>
              <a:t>10,000 images </a:t>
            </a:r>
            <a:endParaRPr lang="en-US" sz="1400">
              <a:latin typeface="Franklin Gothic Book"/>
              <a:ea typeface="Calibri"/>
              <a:cs typeface="Calibri"/>
            </a:endParaRPr>
          </a:p>
          <a:p>
            <a:r>
              <a:rPr lang="en-US" sz="1400">
                <a:latin typeface="Franklin Gothic Book"/>
                <a:ea typeface="+mj-lt"/>
                <a:cs typeface="+mj-lt"/>
              </a:rPr>
              <a:t>(2,000 original microscopic images + 8,000 augmented images) </a:t>
            </a:r>
            <a:endParaRPr lang="en-US" sz="1400">
              <a:latin typeface="Franklin Gothic Book"/>
            </a:endParaRPr>
          </a:p>
          <a:p>
            <a:pPr algn="just">
              <a:lnSpc>
                <a:spcPct val="120000"/>
              </a:lnSpc>
              <a:spcBef>
                <a:spcPts val="2500"/>
              </a:spcBef>
            </a:pPr>
            <a:r>
              <a:rPr lang="en-US" sz="1800" b="1">
                <a:solidFill>
                  <a:srgbClr val="FF0000"/>
                </a:solidFill>
                <a:latin typeface="Abadi"/>
                <a:ea typeface="Calibri"/>
                <a:cs typeface="Calibri"/>
              </a:rPr>
              <a:t>Physical Grain Characteristics</a:t>
            </a:r>
          </a:p>
          <a:p>
            <a:pPr lvl="1" algn="just">
              <a:lnSpc>
                <a:spcPct val="120000"/>
              </a:lnSpc>
              <a:spcBef>
                <a:spcPts val="500"/>
              </a:spcBef>
            </a:pPr>
            <a:r>
              <a:rPr lang="en-US">
                <a:latin typeface="Franklin Gothic Book"/>
                <a:ea typeface="Calibri"/>
                <a:cs typeface="Calibri"/>
              </a:rPr>
              <a:t>Rice grains are characterized by shape, size, and surface texture visible in microscopic images</a:t>
            </a:r>
            <a:br>
              <a:rPr lang="en-US">
                <a:latin typeface="Abadi"/>
                <a:ea typeface="Calibri"/>
                <a:cs typeface="Calibri"/>
              </a:rPr>
            </a:br>
            <a:br>
              <a:rPr lang="en-US">
                <a:latin typeface="Abadi"/>
                <a:ea typeface="Calibri"/>
                <a:cs typeface="Calibri"/>
              </a:rPr>
            </a:br>
            <a:r>
              <a:rPr lang="en-US" sz="1800" b="1">
                <a:solidFill>
                  <a:srgbClr val="FF0000"/>
                </a:solidFill>
                <a:latin typeface="Abadi"/>
                <a:ea typeface="Calibri"/>
                <a:cs typeface="Calibri"/>
              </a:rPr>
              <a:t>RGB Histogram Features</a:t>
            </a:r>
          </a:p>
          <a:p>
            <a:pPr lvl="1" algn="just">
              <a:lnSpc>
                <a:spcPct val="120000"/>
              </a:lnSpc>
              <a:spcBef>
                <a:spcPts val="500"/>
              </a:spcBef>
            </a:pPr>
            <a:r>
              <a:rPr lang="en-US" sz="1600">
                <a:latin typeface="Franklin Gothic Book"/>
                <a:ea typeface="Calibri"/>
                <a:cs typeface="Calibri"/>
              </a:rPr>
              <a:t>RGB histograms quantify color distribution and are used as primary features for classification.</a:t>
            </a:r>
          </a:p>
          <a:p>
            <a:pPr algn="just">
              <a:lnSpc>
                <a:spcPct val="120000"/>
              </a:lnSpc>
              <a:spcBef>
                <a:spcPts val="2500"/>
              </a:spcBef>
            </a:pPr>
            <a:r>
              <a:rPr lang="en-US" sz="1600" b="1">
                <a:solidFill>
                  <a:srgbClr val="FF0000"/>
                </a:solidFill>
                <a:latin typeface="Abadi"/>
                <a:ea typeface="Calibri"/>
                <a:cs typeface="Calibri"/>
              </a:rPr>
              <a:t>Balanced Dataset for Robustness</a:t>
            </a:r>
          </a:p>
          <a:p>
            <a:pPr lvl="1" algn="just">
              <a:lnSpc>
                <a:spcPct val="120000"/>
              </a:lnSpc>
              <a:spcBef>
                <a:spcPts val="500"/>
              </a:spcBef>
            </a:pPr>
            <a:r>
              <a:rPr lang="en-US" sz="1600">
                <a:latin typeface="Franklin Gothic Book"/>
                <a:ea typeface="Calibri"/>
                <a:cs typeface="Calibri"/>
              </a:rPr>
              <a:t>A balanced dataset ensures effective learning and generalization of the classifier to </a:t>
            </a:r>
            <a:r>
              <a:rPr lang="en-US" sz="1600" err="1">
                <a:latin typeface="Franklin Gothic Book"/>
                <a:ea typeface="Calibri"/>
                <a:cs typeface="Calibri"/>
              </a:rPr>
              <a:t>unseensamples</a:t>
            </a:r>
            <a:r>
              <a:rPr lang="en-US" sz="1600" b="1">
                <a:latin typeface="Abadi"/>
                <a:ea typeface="Batang"/>
                <a:cs typeface="Times New Roman"/>
              </a:rPr>
              <a:t>.</a:t>
            </a:r>
            <a:br>
              <a:rPr lang="en-US" sz="1600">
                <a:latin typeface="Abadi"/>
                <a:ea typeface="Batang"/>
                <a:cs typeface="Times New Roman"/>
              </a:rPr>
            </a:br>
            <a:br>
              <a:rPr lang="en-US" sz="1600">
                <a:latin typeface="Abadi"/>
                <a:ea typeface="Batang"/>
                <a:cs typeface="Times New Roman"/>
              </a:rPr>
            </a:br>
            <a:endParaRPr lang="en-US" sz="1600">
              <a:latin typeface="Abadi"/>
              <a:ea typeface="Batang"/>
              <a:cs typeface="Times New Roman"/>
            </a:endParaRPr>
          </a:p>
          <a:p>
            <a:br>
              <a:rPr lang="en-US">
                <a:latin typeface="Abadi"/>
              </a:rPr>
            </a:br>
            <a:endParaRPr lang="en-US" sz="1600">
              <a:latin typeface="Abadi"/>
            </a:endParaRPr>
          </a:p>
        </p:txBody>
      </p:sp>
      <p:pic>
        <p:nvPicPr>
          <p:cNvPr id="3" name="Picture 2" descr="A group of bowls of rice&#10;&#10;AI-generated content may be incorrect.">
            <a:extLst>
              <a:ext uri="{FF2B5EF4-FFF2-40B4-BE49-F238E27FC236}">
                <a16:creationId xmlns:a16="http://schemas.microsoft.com/office/drawing/2014/main" id="{D12A333A-6D8E-33B6-FE0F-5AC7D541E340}"/>
              </a:ext>
            </a:extLst>
          </p:cNvPr>
          <p:cNvPicPr>
            <a:picLocks noChangeAspect="1"/>
          </p:cNvPicPr>
          <p:nvPr/>
        </p:nvPicPr>
        <p:blipFill>
          <a:blip r:embed="rId3"/>
          <a:srcRect t="14459" b="30611"/>
          <a:stretch>
            <a:fillRect/>
          </a:stretch>
        </p:blipFill>
        <p:spPr>
          <a:xfrm>
            <a:off x="5184648" y="685800"/>
            <a:ext cx="6367321" cy="5486400"/>
          </a:xfrm>
          <a:prstGeom prst="rect">
            <a:avLst/>
          </a:prstGeom>
          <a:noFill/>
        </p:spPr>
      </p:pic>
    </p:spTree>
    <p:extLst>
      <p:ext uri="{BB962C8B-B14F-4D97-AF65-F5344CB8AC3E}">
        <p14:creationId xmlns:p14="http://schemas.microsoft.com/office/powerpoint/2010/main" val="5329867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hart with numbers and text&#10;&#10;AI-generated content may be incorrect.">
            <a:extLst>
              <a:ext uri="{FF2B5EF4-FFF2-40B4-BE49-F238E27FC236}">
                <a16:creationId xmlns:a16="http://schemas.microsoft.com/office/drawing/2014/main" id="{550C724A-E59D-4869-CDA4-3AB0B502C64E}"/>
              </a:ext>
            </a:extLst>
          </p:cNvPr>
          <p:cNvPicPr>
            <a:picLocks noChangeAspect="1"/>
          </p:cNvPicPr>
          <p:nvPr/>
        </p:nvPicPr>
        <p:blipFill>
          <a:blip r:embed="rId2"/>
          <a:stretch>
            <a:fillRect/>
          </a:stretch>
        </p:blipFill>
        <p:spPr>
          <a:xfrm>
            <a:off x="208768" y="735607"/>
            <a:ext cx="11766191" cy="5799182"/>
          </a:xfrm>
          <a:prstGeom prst="rect">
            <a:avLst/>
          </a:prstGeom>
        </p:spPr>
      </p:pic>
      <p:sp>
        <p:nvSpPr>
          <p:cNvPr id="5" name="TextBox 4">
            <a:extLst>
              <a:ext uri="{FF2B5EF4-FFF2-40B4-BE49-F238E27FC236}">
                <a16:creationId xmlns:a16="http://schemas.microsoft.com/office/drawing/2014/main" id="{43121070-13A6-FCE3-28AF-2F9A8AF8A6F7}"/>
              </a:ext>
            </a:extLst>
          </p:cNvPr>
          <p:cNvSpPr txBox="1"/>
          <p:nvPr/>
        </p:nvSpPr>
        <p:spPr>
          <a:xfrm>
            <a:off x="4010526" y="100263"/>
            <a:ext cx="399047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         </a:t>
            </a:r>
            <a:r>
              <a:rPr lang="en-GB" sz="2400"/>
              <a:t>   </a:t>
            </a:r>
            <a:r>
              <a:rPr lang="en-GB" sz="3600">
                <a:solidFill>
                  <a:schemeClr val="tx2">
                    <a:lumMod val="90000"/>
                    <a:lumOff val="10000"/>
                  </a:schemeClr>
                </a:solidFill>
                <a:latin typeface="Lobster"/>
              </a:rPr>
              <a:t>Related Work</a:t>
            </a:r>
          </a:p>
        </p:txBody>
      </p:sp>
    </p:spTree>
    <p:extLst>
      <p:ext uri="{BB962C8B-B14F-4D97-AF65-F5344CB8AC3E}">
        <p14:creationId xmlns:p14="http://schemas.microsoft.com/office/powerpoint/2010/main" val="2026640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D6D186-82FB-A2F0-51D9-2F77CC8243F7}"/>
              </a:ext>
            </a:extLst>
          </p:cNvPr>
          <p:cNvPicPr>
            <a:picLocks noChangeAspect="1"/>
          </p:cNvPicPr>
          <p:nvPr/>
        </p:nvPicPr>
        <p:blipFill>
          <a:blip r:embed="rId2"/>
          <a:stretch>
            <a:fillRect/>
          </a:stretch>
        </p:blipFill>
        <p:spPr>
          <a:xfrm>
            <a:off x="533975" y="1332582"/>
            <a:ext cx="10866992" cy="4183655"/>
          </a:xfrm>
          <a:prstGeom prst="rect">
            <a:avLst/>
          </a:prstGeom>
        </p:spPr>
      </p:pic>
    </p:spTree>
    <p:extLst>
      <p:ext uri="{BB962C8B-B14F-4D97-AF65-F5344CB8AC3E}">
        <p14:creationId xmlns:p14="http://schemas.microsoft.com/office/powerpoint/2010/main" val="715486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4D4BC70-4AF5-1059-C07D-1FDF8AF36D27}"/>
              </a:ext>
            </a:extLst>
          </p:cNvPr>
          <p:cNvSpPr>
            <a:spLocks noGrp="1"/>
          </p:cNvSpPr>
          <p:nvPr>
            <p:ph type="title"/>
          </p:nvPr>
        </p:nvSpPr>
        <p:spPr>
          <a:xfrm>
            <a:off x="5192037" y="685800"/>
            <a:ext cx="6384266" cy="1532787"/>
          </a:xfrm>
        </p:spPr>
        <p:txBody>
          <a:bodyPr anchor="b">
            <a:normAutofit/>
          </a:bodyPr>
          <a:lstStyle/>
          <a:p>
            <a:r>
              <a:rPr lang="en-GB"/>
              <a:t>Model Architectures </a:t>
            </a:r>
            <a:endParaRPr lang="en-US"/>
          </a:p>
          <a:p>
            <a:endParaRPr lang="en-GB"/>
          </a:p>
        </p:txBody>
      </p:sp>
      <p:pic>
        <p:nvPicPr>
          <p:cNvPr id="7" name="Picture Placeholder 6" descr="A bag of rice with a wooden spoon&#10;&#10;AI-generated content may be incorrect.">
            <a:extLst>
              <a:ext uri="{FF2B5EF4-FFF2-40B4-BE49-F238E27FC236}">
                <a16:creationId xmlns:a16="http://schemas.microsoft.com/office/drawing/2014/main" id="{85B158DB-3FBC-8CA5-AC1B-1F2B7AAA59FA}"/>
              </a:ext>
            </a:extLst>
          </p:cNvPr>
          <p:cNvPicPr>
            <a:picLocks noGrp="1" noChangeAspect="1"/>
          </p:cNvPicPr>
          <p:nvPr>
            <p:ph type="pic" sz="quarter" idx="17"/>
          </p:nvPr>
        </p:nvPicPr>
        <p:blipFill>
          <a:blip r:embed="rId3"/>
          <a:srcRect t="2733" b="2733"/>
          <a:stretch/>
        </p:blipFill>
        <p:spPr>
          <a:xfrm>
            <a:off x="276418" y="233172"/>
            <a:ext cx="4022926" cy="6391656"/>
          </a:xfrm>
          <a:prstGeom prst="rect">
            <a:avLst/>
          </a:prstGeom>
          <a:noFill/>
        </p:spPr>
      </p:pic>
      <p:sp>
        <p:nvSpPr>
          <p:cNvPr id="4" name="Content Placeholder 3">
            <a:extLst>
              <a:ext uri="{FF2B5EF4-FFF2-40B4-BE49-F238E27FC236}">
                <a16:creationId xmlns:a16="http://schemas.microsoft.com/office/drawing/2014/main" id="{219AE196-008F-1C26-B9EB-2490A5B74A69}"/>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95084" y="2771255"/>
            <a:ext cx="6384266" cy="3252513"/>
          </a:xfrm>
        </p:spPr>
        <p:txBody>
          <a:bodyPr>
            <a:normAutofit/>
          </a:bodyPr>
          <a:lstStyle/>
          <a:p>
            <a:pPr marL="0" indent="0">
              <a:spcBef>
                <a:spcPts val="2500"/>
              </a:spcBef>
              <a:buFont typeface="Wingdings" panose="020B0604020202020204" pitchFamily="34" charset="0"/>
              <a:buNone/>
            </a:pPr>
            <a:r>
              <a:rPr lang="en-US" sz="1400" b="1"/>
              <a:t>SimCLR (contrastive learning with positives and negatives)</a:t>
            </a:r>
          </a:p>
          <a:p>
            <a:pPr marL="0" indent="0">
              <a:spcBef>
                <a:spcPts val="2500"/>
              </a:spcBef>
              <a:buFont typeface="Wingdings" panose="020B0604020202020204" pitchFamily="34" charset="0"/>
              <a:buNone/>
            </a:pPr>
            <a:r>
              <a:rPr lang="en-US" sz="1400" b="1"/>
              <a:t>BYOL (positive pair consistency, no negatives)</a:t>
            </a:r>
          </a:p>
          <a:p>
            <a:pPr marL="0" lvl="1" indent="0">
              <a:spcBef>
                <a:spcPts val="2500"/>
              </a:spcBef>
              <a:buFont typeface="Wingdings" panose="020B0604020202020204" pitchFamily="34" charset="0"/>
              <a:buNone/>
            </a:pPr>
            <a:r>
              <a:rPr lang="en-US" sz="1400"/>
              <a:t>MAE(masked image reconstruction)</a:t>
            </a:r>
            <a:br>
              <a:rPr lang="en-US" sz="1400"/>
            </a:br>
            <a:r>
              <a:rPr lang="en-US" sz="1400"/>
              <a:t>Backbones: DenseNet-121, Vit</a:t>
            </a:r>
            <a:br>
              <a:rPr lang="en-US" sz="1400"/>
            </a:br>
            <a:r>
              <a:rPr lang="en-US" sz="1400"/>
              <a:t> </a:t>
            </a:r>
          </a:p>
        </p:txBody>
      </p:sp>
    </p:spTree>
    <p:extLst>
      <p:ext uri="{BB962C8B-B14F-4D97-AF65-F5344CB8AC3E}">
        <p14:creationId xmlns:p14="http://schemas.microsoft.com/office/powerpoint/2010/main" val="36135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AI-generated content may be incorrect.">
            <a:extLst>
              <a:ext uri="{FF2B5EF4-FFF2-40B4-BE49-F238E27FC236}">
                <a16:creationId xmlns:a16="http://schemas.microsoft.com/office/drawing/2014/main" id="{222D8F75-6D48-6F0B-F37D-2668485890CE}"/>
              </a:ext>
            </a:extLst>
          </p:cNvPr>
          <p:cNvPicPr>
            <a:picLocks noChangeAspect="1"/>
          </p:cNvPicPr>
          <p:nvPr/>
        </p:nvPicPr>
        <p:blipFill>
          <a:blip r:embed="rId3"/>
          <a:stretch>
            <a:fillRect/>
          </a:stretch>
        </p:blipFill>
        <p:spPr>
          <a:xfrm>
            <a:off x="1293738" y="1335625"/>
            <a:ext cx="9237297" cy="4902847"/>
          </a:xfrm>
          <a:prstGeom prst="rect">
            <a:avLst/>
          </a:prstGeom>
        </p:spPr>
      </p:pic>
      <p:sp>
        <p:nvSpPr>
          <p:cNvPr id="6" name="TextBox 5">
            <a:extLst>
              <a:ext uri="{FF2B5EF4-FFF2-40B4-BE49-F238E27FC236}">
                <a16:creationId xmlns:a16="http://schemas.microsoft.com/office/drawing/2014/main" id="{65DA9EE2-83ED-F66E-4A18-2BAFB3920D9E}"/>
              </a:ext>
            </a:extLst>
          </p:cNvPr>
          <p:cNvSpPr txBox="1"/>
          <p:nvPr/>
        </p:nvSpPr>
        <p:spPr>
          <a:xfrm>
            <a:off x="4149807" y="494551"/>
            <a:ext cx="78077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b="1" err="1">
                <a:solidFill>
                  <a:schemeClr val="bg1"/>
                </a:solidFill>
                <a:latin typeface="Lobster"/>
              </a:rPr>
              <a:t>WorkFlow</a:t>
            </a:r>
            <a:r>
              <a:rPr lang="en-GB" sz="3200" b="1">
                <a:solidFill>
                  <a:schemeClr val="bg1"/>
                </a:solidFill>
                <a:latin typeface="Lobster"/>
              </a:rPr>
              <a:t> Diagram</a:t>
            </a:r>
          </a:p>
        </p:txBody>
      </p:sp>
    </p:spTree>
    <p:extLst>
      <p:ext uri="{BB962C8B-B14F-4D97-AF65-F5344CB8AC3E}">
        <p14:creationId xmlns:p14="http://schemas.microsoft.com/office/powerpoint/2010/main" val="166250048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DB85C-9C73-7B68-0177-F7C471FF5563}"/>
              </a:ext>
            </a:extLst>
          </p:cNvPr>
          <p:cNvSpPr>
            <a:spLocks noGrp="1"/>
          </p:cNvSpPr>
          <p:nvPr>
            <p:ph type="ctrTitle"/>
          </p:nvPr>
        </p:nvSpPr>
        <p:spPr>
          <a:xfrm>
            <a:off x="501136" y="460526"/>
            <a:ext cx="8327731" cy="814431"/>
          </a:xfrm>
        </p:spPr>
        <p:txBody>
          <a:bodyPr/>
          <a:lstStyle/>
          <a:p>
            <a:pPr algn="ctr"/>
            <a:r>
              <a:rPr lang="en-GB" sz="3600">
                <a:ea typeface="Batang"/>
              </a:rPr>
              <a:t>              </a:t>
            </a:r>
            <a:r>
              <a:rPr lang="en-GB" sz="3600" b="1">
                <a:latin typeface="Algerian"/>
                <a:ea typeface="Batang"/>
              </a:rPr>
              <a:t>Performance Table</a:t>
            </a:r>
            <a:endParaRPr lang="en-GB" sz="3600" b="1">
              <a:latin typeface="Algerian"/>
            </a:endParaRPr>
          </a:p>
        </p:txBody>
      </p:sp>
      <p:pic>
        <p:nvPicPr>
          <p:cNvPr id="3" name="Picture 2" descr="A table with numbers and symbols&#10;&#10;AI-generated content may be incorrect.">
            <a:extLst>
              <a:ext uri="{FF2B5EF4-FFF2-40B4-BE49-F238E27FC236}">
                <a16:creationId xmlns:a16="http://schemas.microsoft.com/office/drawing/2014/main" id="{FF448A0B-8075-CDE0-F29F-54F6970BCF72}"/>
              </a:ext>
            </a:extLst>
          </p:cNvPr>
          <p:cNvPicPr>
            <a:picLocks noChangeAspect="1"/>
          </p:cNvPicPr>
          <p:nvPr/>
        </p:nvPicPr>
        <p:blipFill>
          <a:blip r:embed="rId2"/>
          <a:stretch>
            <a:fillRect/>
          </a:stretch>
        </p:blipFill>
        <p:spPr>
          <a:xfrm>
            <a:off x="1885718" y="1586146"/>
            <a:ext cx="8606419" cy="4819418"/>
          </a:xfrm>
          <a:prstGeom prst="rect">
            <a:avLst/>
          </a:prstGeom>
        </p:spPr>
      </p:pic>
    </p:spTree>
    <p:extLst>
      <p:ext uri="{BB962C8B-B14F-4D97-AF65-F5344CB8AC3E}">
        <p14:creationId xmlns:p14="http://schemas.microsoft.com/office/powerpoint/2010/main" val="132570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9916D-54CF-DA0B-0C07-D8668980F694}"/>
              </a:ext>
            </a:extLst>
          </p:cNvPr>
          <p:cNvSpPr>
            <a:spLocks noGrp="1"/>
          </p:cNvSpPr>
          <p:nvPr>
            <p:ph type="title"/>
          </p:nvPr>
        </p:nvSpPr>
        <p:spPr>
          <a:xfrm>
            <a:off x="8328103" y="1271248"/>
            <a:ext cx="3260315" cy="3077924"/>
          </a:xfrm>
        </p:spPr>
        <p:txBody>
          <a:bodyPr anchor="b">
            <a:normAutofit/>
          </a:bodyPr>
          <a:lstStyle/>
          <a:p>
            <a:r>
              <a:rPr lang="en-GB" b="1">
                <a:ea typeface="Batang"/>
              </a:rPr>
              <a:t>Accuracy Comparison of Models</a:t>
            </a:r>
            <a:endParaRPr lang="en-US" b="1">
              <a:ea typeface="Batang"/>
            </a:endParaRPr>
          </a:p>
          <a:p>
            <a:endParaRPr lang="en-GB" sz="2700" b="1"/>
          </a:p>
        </p:txBody>
      </p:sp>
      <p:pic>
        <p:nvPicPr>
          <p:cNvPr id="5" name="Picture 4">
            <a:extLst>
              <a:ext uri="{FF2B5EF4-FFF2-40B4-BE49-F238E27FC236}">
                <a16:creationId xmlns:a16="http://schemas.microsoft.com/office/drawing/2014/main" id="{19F9962B-092F-8190-5CBD-7E70AA4FA504}"/>
              </a:ext>
            </a:extLst>
          </p:cNvPr>
          <p:cNvPicPr>
            <a:picLocks noChangeAspect="1"/>
          </p:cNvPicPr>
          <p:nvPr/>
        </p:nvPicPr>
        <p:blipFill>
          <a:blip r:embed="rId2"/>
          <a:stretch>
            <a:fillRect/>
          </a:stretch>
        </p:blipFill>
        <p:spPr>
          <a:xfrm>
            <a:off x="272796" y="1081609"/>
            <a:ext cx="7680960" cy="4685385"/>
          </a:xfrm>
          <a:prstGeom prst="rect">
            <a:avLst/>
          </a:prstGeom>
          <a:noFill/>
        </p:spPr>
      </p:pic>
    </p:spTree>
    <p:extLst>
      <p:ext uri="{BB962C8B-B14F-4D97-AF65-F5344CB8AC3E}">
        <p14:creationId xmlns:p14="http://schemas.microsoft.com/office/powerpoint/2010/main" val="3521674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A5A8-DCAD-1698-C5B5-B4C2F8DE14FD}"/>
              </a:ext>
            </a:extLst>
          </p:cNvPr>
          <p:cNvSpPr>
            <a:spLocks noGrp="1"/>
          </p:cNvSpPr>
          <p:nvPr>
            <p:ph type="ctrTitle"/>
          </p:nvPr>
        </p:nvSpPr>
        <p:spPr>
          <a:xfrm>
            <a:off x="3233183" y="841524"/>
            <a:ext cx="6459901" cy="814433"/>
          </a:xfrm>
        </p:spPr>
        <p:txBody>
          <a:bodyPr vert="horz" lIns="91440" tIns="45720" rIns="91440" bIns="45720" rtlCol="0" anchor="b">
            <a:noAutofit/>
          </a:bodyPr>
          <a:lstStyle/>
          <a:p>
            <a:r>
              <a:rPr lang="en-US">
                <a:latin typeface="Algerian"/>
                <a:ea typeface="Batang"/>
              </a:rPr>
              <a:t>LOSS cURVE</a:t>
            </a:r>
            <a:endParaRPr lang="en-US">
              <a:latin typeface="Algerian"/>
            </a:endParaRPr>
          </a:p>
        </p:txBody>
      </p:sp>
      <p:pic>
        <p:nvPicPr>
          <p:cNvPr id="3" name="Picture 2" descr="A graph of a graph&#10;&#10;AI-generated content may be incorrect.">
            <a:extLst>
              <a:ext uri="{FF2B5EF4-FFF2-40B4-BE49-F238E27FC236}">
                <a16:creationId xmlns:a16="http://schemas.microsoft.com/office/drawing/2014/main" id="{8F4D4910-7B0C-A3D9-13AF-637E1C44550C}"/>
              </a:ext>
            </a:extLst>
          </p:cNvPr>
          <p:cNvPicPr>
            <a:picLocks noChangeAspect="1"/>
          </p:cNvPicPr>
          <p:nvPr/>
        </p:nvPicPr>
        <p:blipFill>
          <a:blip r:embed="rId3"/>
          <a:stretch>
            <a:fillRect/>
          </a:stretch>
        </p:blipFill>
        <p:spPr>
          <a:xfrm>
            <a:off x="330936" y="2459773"/>
            <a:ext cx="3872957" cy="2626112"/>
          </a:xfrm>
          <a:prstGeom prst="rect">
            <a:avLst/>
          </a:prstGeom>
        </p:spPr>
      </p:pic>
      <p:pic>
        <p:nvPicPr>
          <p:cNvPr id="4" name="Picture 3" descr="A graph of a loss&#10;&#10;AI-generated content may be incorrect.">
            <a:extLst>
              <a:ext uri="{FF2B5EF4-FFF2-40B4-BE49-F238E27FC236}">
                <a16:creationId xmlns:a16="http://schemas.microsoft.com/office/drawing/2014/main" id="{C7B95FF3-B48D-8551-74B3-7A35734030BF}"/>
              </a:ext>
            </a:extLst>
          </p:cNvPr>
          <p:cNvPicPr>
            <a:picLocks noChangeAspect="1"/>
          </p:cNvPicPr>
          <p:nvPr/>
        </p:nvPicPr>
        <p:blipFill>
          <a:blip r:embed="rId4"/>
          <a:stretch>
            <a:fillRect/>
          </a:stretch>
        </p:blipFill>
        <p:spPr>
          <a:xfrm>
            <a:off x="8277341" y="2458030"/>
            <a:ext cx="3563977" cy="2629598"/>
          </a:xfrm>
          <a:prstGeom prst="rect">
            <a:avLst/>
          </a:prstGeom>
        </p:spPr>
      </p:pic>
      <p:pic>
        <p:nvPicPr>
          <p:cNvPr id="5" name="Picture 4" descr="A graph of loss of a stock market&#10;&#10;AI-generated content may be incorrect.">
            <a:extLst>
              <a:ext uri="{FF2B5EF4-FFF2-40B4-BE49-F238E27FC236}">
                <a16:creationId xmlns:a16="http://schemas.microsoft.com/office/drawing/2014/main" id="{143305FB-7236-9220-0605-FD734549B821}"/>
              </a:ext>
            </a:extLst>
          </p:cNvPr>
          <p:cNvPicPr>
            <a:picLocks noChangeAspect="1"/>
          </p:cNvPicPr>
          <p:nvPr/>
        </p:nvPicPr>
        <p:blipFill>
          <a:blip r:embed="rId5"/>
          <a:stretch>
            <a:fillRect/>
          </a:stretch>
        </p:blipFill>
        <p:spPr>
          <a:xfrm>
            <a:off x="4508345" y="2461748"/>
            <a:ext cx="3398336" cy="2622164"/>
          </a:xfrm>
          <a:prstGeom prst="rect">
            <a:avLst/>
          </a:prstGeom>
        </p:spPr>
      </p:pic>
    </p:spTree>
    <p:extLst>
      <p:ext uri="{BB962C8B-B14F-4D97-AF65-F5344CB8AC3E}">
        <p14:creationId xmlns:p14="http://schemas.microsoft.com/office/powerpoint/2010/main" val="37357277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hart with colored dots&#10;&#10;AI-generated content may be incorrect.">
            <a:extLst>
              <a:ext uri="{FF2B5EF4-FFF2-40B4-BE49-F238E27FC236}">
                <a16:creationId xmlns:a16="http://schemas.microsoft.com/office/drawing/2014/main" id="{A707BA87-309A-101A-61C7-FC5D24613442}"/>
              </a:ext>
            </a:extLst>
          </p:cNvPr>
          <p:cNvPicPr>
            <a:picLocks noChangeAspect="1"/>
          </p:cNvPicPr>
          <p:nvPr/>
        </p:nvPicPr>
        <p:blipFill>
          <a:blip r:embed="rId2"/>
          <a:stretch>
            <a:fillRect/>
          </a:stretch>
        </p:blipFill>
        <p:spPr>
          <a:xfrm>
            <a:off x="239559" y="1000526"/>
            <a:ext cx="3624665" cy="3140153"/>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2B380BCE-D914-CB23-98CD-13F2CF7129B4}"/>
              </a:ext>
            </a:extLst>
          </p:cNvPr>
          <p:cNvSpPr txBox="1"/>
          <p:nvPr/>
        </p:nvSpPr>
        <p:spPr>
          <a:xfrm>
            <a:off x="1370947" y="4431268"/>
            <a:ext cx="10537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err="1">
                <a:solidFill>
                  <a:schemeClr val="bg1"/>
                </a:solidFill>
              </a:rPr>
              <a:t>SimCLR</a:t>
            </a:r>
          </a:p>
        </p:txBody>
      </p:sp>
      <p:pic>
        <p:nvPicPr>
          <p:cNvPr id="5" name="Picture 4" descr="A graph with many colored dots&#10;&#10;AI-generated content may be incorrect.">
            <a:extLst>
              <a:ext uri="{FF2B5EF4-FFF2-40B4-BE49-F238E27FC236}">
                <a16:creationId xmlns:a16="http://schemas.microsoft.com/office/drawing/2014/main" id="{CABE6285-E38C-4476-3155-2D92791F5B7B}"/>
              </a:ext>
            </a:extLst>
          </p:cNvPr>
          <p:cNvPicPr>
            <a:picLocks noChangeAspect="1"/>
          </p:cNvPicPr>
          <p:nvPr/>
        </p:nvPicPr>
        <p:blipFill>
          <a:blip r:embed="rId3"/>
          <a:stretch>
            <a:fillRect/>
          </a:stretch>
        </p:blipFill>
        <p:spPr>
          <a:xfrm>
            <a:off x="4064536" y="2167167"/>
            <a:ext cx="3888495" cy="3496823"/>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739AC709-23FC-2DD8-4F94-DDF3EAC8100D}"/>
              </a:ext>
            </a:extLst>
          </p:cNvPr>
          <p:cNvSpPr txBox="1"/>
          <p:nvPr/>
        </p:nvSpPr>
        <p:spPr>
          <a:xfrm>
            <a:off x="5775157" y="6015789"/>
            <a:ext cx="1594184" cy="3910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8" name="TextBox 7">
            <a:extLst>
              <a:ext uri="{FF2B5EF4-FFF2-40B4-BE49-F238E27FC236}">
                <a16:creationId xmlns:a16="http://schemas.microsoft.com/office/drawing/2014/main" id="{462523B8-8F8B-AE89-67BA-6D0DABF5F163}"/>
              </a:ext>
            </a:extLst>
          </p:cNvPr>
          <p:cNvSpPr txBox="1"/>
          <p:nvPr/>
        </p:nvSpPr>
        <p:spPr>
          <a:xfrm>
            <a:off x="5266957" y="5904775"/>
            <a:ext cx="1483894" cy="380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bg1"/>
                </a:solidFill>
              </a:rPr>
              <a:t>     BYOL</a:t>
            </a:r>
          </a:p>
        </p:txBody>
      </p:sp>
      <p:pic>
        <p:nvPicPr>
          <p:cNvPr id="9" name="Picture 8" descr="A graph with many colored dots&#10;&#10;AI-generated content may be incorrect.">
            <a:extLst>
              <a:ext uri="{FF2B5EF4-FFF2-40B4-BE49-F238E27FC236}">
                <a16:creationId xmlns:a16="http://schemas.microsoft.com/office/drawing/2014/main" id="{8279DF99-D71E-866A-39DE-A5686B99915C}"/>
              </a:ext>
            </a:extLst>
          </p:cNvPr>
          <p:cNvPicPr>
            <a:picLocks noChangeAspect="1"/>
          </p:cNvPicPr>
          <p:nvPr/>
        </p:nvPicPr>
        <p:blipFill>
          <a:blip r:embed="rId4"/>
          <a:stretch>
            <a:fillRect/>
          </a:stretch>
        </p:blipFill>
        <p:spPr>
          <a:xfrm>
            <a:off x="8114038" y="920941"/>
            <a:ext cx="3721636" cy="3290143"/>
          </a:xfrm>
          <a:prstGeom prst="rect">
            <a:avLst/>
          </a:prstGeom>
          <a:ln>
            <a:noFill/>
          </a:ln>
          <a:effectLst>
            <a:outerShdw blurRad="190500" algn="tl" rotWithShape="0">
              <a:srgbClr val="000000">
                <a:alpha val="70000"/>
              </a:srgbClr>
            </a:outerShdw>
          </a:effectLst>
        </p:spPr>
      </p:pic>
      <p:sp>
        <p:nvSpPr>
          <p:cNvPr id="10" name="TextBox 9">
            <a:extLst>
              <a:ext uri="{FF2B5EF4-FFF2-40B4-BE49-F238E27FC236}">
                <a16:creationId xmlns:a16="http://schemas.microsoft.com/office/drawing/2014/main" id="{4440BD11-6896-AB9F-1345-85818DD9877B}"/>
              </a:ext>
            </a:extLst>
          </p:cNvPr>
          <p:cNvSpPr txBox="1"/>
          <p:nvPr/>
        </p:nvSpPr>
        <p:spPr>
          <a:xfrm>
            <a:off x="9711150" y="4430907"/>
            <a:ext cx="11831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bg1"/>
                </a:solidFill>
              </a:rPr>
              <a:t>MAE</a:t>
            </a:r>
          </a:p>
        </p:txBody>
      </p:sp>
      <p:sp>
        <p:nvSpPr>
          <p:cNvPr id="11" name="TextBox 10">
            <a:extLst>
              <a:ext uri="{FF2B5EF4-FFF2-40B4-BE49-F238E27FC236}">
                <a16:creationId xmlns:a16="http://schemas.microsoft.com/office/drawing/2014/main" id="{414D0576-2C97-75DC-358E-39FC31501342}"/>
              </a:ext>
            </a:extLst>
          </p:cNvPr>
          <p:cNvSpPr txBox="1"/>
          <p:nvPr/>
        </p:nvSpPr>
        <p:spPr>
          <a:xfrm>
            <a:off x="4897311" y="417843"/>
            <a:ext cx="349555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b="1">
                <a:solidFill>
                  <a:schemeClr val="bg1"/>
                </a:solidFill>
                <a:latin typeface="Lobster"/>
              </a:rPr>
              <a:t>t-SNE PLOT</a:t>
            </a:r>
          </a:p>
        </p:txBody>
      </p:sp>
    </p:spTree>
    <p:extLst>
      <p:ext uri="{BB962C8B-B14F-4D97-AF65-F5344CB8AC3E}">
        <p14:creationId xmlns:p14="http://schemas.microsoft.com/office/powerpoint/2010/main" val="3396595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colored dots&#10;&#10;AI-generated content may be incorrect.">
            <a:extLst>
              <a:ext uri="{FF2B5EF4-FFF2-40B4-BE49-F238E27FC236}">
                <a16:creationId xmlns:a16="http://schemas.microsoft.com/office/drawing/2014/main" id="{9D14B773-2090-76EA-9C76-B3CBB5DA981A}"/>
              </a:ext>
            </a:extLst>
          </p:cNvPr>
          <p:cNvPicPr>
            <a:picLocks noChangeAspect="1"/>
          </p:cNvPicPr>
          <p:nvPr/>
        </p:nvPicPr>
        <p:blipFill>
          <a:blip r:embed="rId2"/>
          <a:stretch>
            <a:fillRect/>
          </a:stretch>
        </p:blipFill>
        <p:spPr>
          <a:xfrm>
            <a:off x="245144" y="2146384"/>
            <a:ext cx="3610478" cy="3257051"/>
          </a:xfrm>
          <a:prstGeom prst="rect">
            <a:avLst/>
          </a:prstGeom>
          <a:ln>
            <a:noFill/>
          </a:ln>
          <a:effectLst>
            <a:outerShdw blurRad="190500" algn="tl" rotWithShape="0">
              <a:srgbClr val="000000">
                <a:alpha val="70000"/>
              </a:srgbClr>
            </a:outerShdw>
          </a:effectLst>
        </p:spPr>
      </p:pic>
      <p:pic>
        <p:nvPicPr>
          <p:cNvPr id="4" name="Picture 3" descr="A graph of colored dots&#10;&#10;AI-generated content may be incorrect.">
            <a:extLst>
              <a:ext uri="{FF2B5EF4-FFF2-40B4-BE49-F238E27FC236}">
                <a16:creationId xmlns:a16="http://schemas.microsoft.com/office/drawing/2014/main" id="{E6AFA168-893C-7092-FA40-5DE30041E2AA}"/>
              </a:ext>
            </a:extLst>
          </p:cNvPr>
          <p:cNvPicPr>
            <a:picLocks noChangeAspect="1"/>
          </p:cNvPicPr>
          <p:nvPr/>
        </p:nvPicPr>
        <p:blipFill>
          <a:blip r:embed="rId3"/>
          <a:stretch>
            <a:fillRect/>
          </a:stretch>
        </p:blipFill>
        <p:spPr>
          <a:xfrm>
            <a:off x="4130091" y="1715753"/>
            <a:ext cx="3621005" cy="3095626"/>
          </a:xfrm>
          <a:prstGeom prst="rect">
            <a:avLst/>
          </a:prstGeom>
          <a:ln>
            <a:noFill/>
          </a:ln>
          <a:effectLst>
            <a:outerShdw blurRad="190500" algn="tl" rotWithShape="0">
              <a:srgbClr val="000000">
                <a:alpha val="70000"/>
              </a:srgbClr>
            </a:outerShdw>
          </a:effectLst>
        </p:spPr>
      </p:pic>
      <p:pic>
        <p:nvPicPr>
          <p:cNvPr id="5" name="Picture 4" descr="A graph with many colored dots&#10;&#10;AI-generated content may be incorrect.">
            <a:extLst>
              <a:ext uri="{FF2B5EF4-FFF2-40B4-BE49-F238E27FC236}">
                <a16:creationId xmlns:a16="http://schemas.microsoft.com/office/drawing/2014/main" id="{2DA33E04-8746-504F-7B46-2CC44870E458}"/>
              </a:ext>
            </a:extLst>
          </p:cNvPr>
          <p:cNvPicPr>
            <a:picLocks noChangeAspect="1"/>
          </p:cNvPicPr>
          <p:nvPr/>
        </p:nvPicPr>
        <p:blipFill>
          <a:blip r:embed="rId4"/>
          <a:stretch>
            <a:fillRect/>
          </a:stretch>
        </p:blipFill>
        <p:spPr>
          <a:xfrm>
            <a:off x="7984206" y="2146886"/>
            <a:ext cx="4044115" cy="3256047"/>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864A1C20-709F-7C99-41A2-AC17E3358056}"/>
              </a:ext>
            </a:extLst>
          </p:cNvPr>
          <p:cNvSpPr txBox="1"/>
          <p:nvPr/>
        </p:nvSpPr>
        <p:spPr>
          <a:xfrm>
            <a:off x="4541920" y="431131"/>
            <a:ext cx="46722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b="1">
                <a:solidFill>
                  <a:schemeClr val="bg1"/>
                </a:solidFill>
                <a:latin typeface="Lobster"/>
              </a:rPr>
              <a:t>PCA PLOT</a:t>
            </a:r>
          </a:p>
        </p:txBody>
      </p:sp>
    </p:spTree>
    <p:extLst>
      <p:ext uri="{BB962C8B-B14F-4D97-AF65-F5344CB8AC3E}">
        <p14:creationId xmlns:p14="http://schemas.microsoft.com/office/powerpoint/2010/main" val="2850065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ank You animation letters. animated people politely.">
            <a:extLst>
              <a:ext uri="{FF2B5EF4-FFF2-40B4-BE49-F238E27FC236}">
                <a16:creationId xmlns:a16="http://schemas.microsoft.com/office/drawing/2014/main" id="{E53AC13F-EF3F-36D6-28B1-E70991EB4052}"/>
              </a:ext>
            </a:extLst>
          </p:cNvPr>
          <p:cNvPicPr>
            <a:picLocks noChangeAspect="1"/>
          </p:cNvPicPr>
          <p:nvPr/>
        </p:nvPicPr>
        <p:blipFill>
          <a:blip r:embed="rId3"/>
          <a:stretch>
            <a:fillRect/>
          </a:stretch>
        </p:blipFill>
        <p:spPr>
          <a:xfrm>
            <a:off x="121356" y="68263"/>
            <a:ext cx="11949288" cy="6721475"/>
          </a:xfrm>
          <a:prstGeom prst="rect">
            <a:avLst/>
          </a:prstGeom>
          <a:noFill/>
        </p:spPr>
      </p:pic>
    </p:spTree>
    <p:extLst>
      <p:ext uri="{BB962C8B-B14F-4D97-AF65-F5344CB8AC3E}">
        <p14:creationId xmlns:p14="http://schemas.microsoft.com/office/powerpoint/2010/main" val="71335559"/>
      </p:ext>
    </p:extLst>
  </p:cSld>
  <p:clrMapOvr>
    <a:masterClrMapping/>
  </p:clrMapOvr>
  <p:transition>
    <p:fade/>
  </p:transition>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99ED26-B189-4BA1-99D0-1112D8C2F106}">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14</Slides>
  <Notes>8</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Solace</vt:lpstr>
      <vt:lpstr>RICE VARITY IN BD Analysis</vt:lpstr>
      <vt:lpstr>PowerPoint Presentation</vt:lpstr>
      <vt:lpstr>Project Overview</vt:lpstr>
      <vt:lpstr>PRBD Dataset: contains 10 processed rice varieties of Bangladesh Diverse Rice Varieties  Dataset Size: 10,000 images  (2,000 original microscopic images + 8,000 augmented images)  Physical Grain Characteristics Rice grains are characterized by shape, size, and surface texture visible in microscopic images  RGB Histogram Features RGB histograms quantify color distribution and are used as primary features for classification. Balanced Dataset for Robustness A balanced dataset ensures effective learning and generalization of the classifier to unseensamples.    </vt:lpstr>
      <vt:lpstr>PowerPoint Presentation</vt:lpstr>
      <vt:lpstr>PowerPoint Presentation</vt:lpstr>
      <vt:lpstr>Model Architectures  </vt:lpstr>
      <vt:lpstr>PowerPoint Presentation</vt:lpstr>
      <vt:lpstr>              Performance Table</vt:lpstr>
      <vt:lpstr>Accuracy Comparison of Models </vt:lpstr>
      <vt:lpstr>LOSS cURVE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5</cp:revision>
  <dcterms:created xsi:type="dcterms:W3CDTF">2025-05-21T23:03:00Z</dcterms:created>
  <dcterms:modified xsi:type="dcterms:W3CDTF">2025-12-17T06:22:14Z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